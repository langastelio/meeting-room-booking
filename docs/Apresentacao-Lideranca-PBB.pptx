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ga, Stelio S" userId="a20798b6-7784-435b-b83c-1d75609cae13" providerId="ADAL" clId="{D0013446-66C2-4F9D-812A-35354BCF9A10}"/>
    <pc:docChg chg="mod modSld modMainMaster">
      <pc:chgData name="Langa, Stelio S" userId="a20798b6-7784-435b-b83c-1d75609cae13" providerId="ADAL" clId="{D0013446-66C2-4F9D-812A-35354BCF9A10}" dt="2026-07-01T14:17:57.454" v="30" actId="20577"/>
      <pc:docMkLst>
        <pc:docMk/>
      </pc:docMkLst>
      <pc:sldChg chg="modSp mod">
        <pc:chgData name="Langa, Stelio S" userId="a20798b6-7784-435b-b83c-1d75609cae13" providerId="ADAL" clId="{D0013446-66C2-4F9D-812A-35354BCF9A10}" dt="2026-07-01T14:16:03.481" v="26" actId="20577"/>
        <pc:sldMkLst>
          <pc:docMk/>
          <pc:sldMk cId="0" sldId="256"/>
        </pc:sldMkLst>
        <pc:spChg chg="mod">
          <ac:chgData name="Langa, Stelio S" userId="a20798b6-7784-435b-b83c-1d75609cae13" providerId="ADAL" clId="{D0013446-66C2-4F9D-812A-35354BCF9A10}" dt="2026-07-01T14:16:03.481" v="26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Langa, Stelio S" userId="a20798b6-7784-435b-b83c-1d75609cae13" providerId="ADAL" clId="{D0013446-66C2-4F9D-812A-35354BCF9A10}" dt="2026-07-01T14:17:57.454" v="30" actId="20577"/>
        <pc:sldMkLst>
          <pc:docMk/>
          <pc:sldMk cId="0" sldId="260"/>
        </pc:sldMkLst>
        <pc:spChg chg="mod">
          <ac:chgData name="Langa, Stelio S" userId="a20798b6-7784-435b-b83c-1d75609cae13" providerId="ADAL" clId="{D0013446-66C2-4F9D-812A-35354BCF9A10}" dt="2026-07-01T14:17:57.454" v="30" actId="20577"/>
          <ac:spMkLst>
            <pc:docMk/>
            <pc:sldMk cId="0" sldId="260"/>
            <ac:spMk id="7" creationId="{00000000-0000-0000-0000-000000000000}"/>
          </ac:spMkLst>
        </pc:spChg>
      </pc:sldChg>
      <pc:sldMasterChg chg="addSp mod">
        <pc:chgData name="Langa, Stelio S" userId="a20798b6-7784-435b-b83c-1d75609cae13" providerId="ADAL" clId="{D0013446-66C2-4F9D-812A-35354BCF9A10}" dt="2026-07-01T14:16:03.399" v="24" actId="33475"/>
        <pc:sldMasterMkLst>
          <pc:docMk/>
          <pc:sldMasterMk cId="2209977519" sldId="2147483648"/>
        </pc:sldMasterMkLst>
        <pc:spChg chg="add">
          <ac:chgData name="Langa, Stelio S" userId="a20798b6-7784-435b-b83c-1d75609cae13" providerId="ADAL" clId="{D0013446-66C2-4F9D-812A-35354BCF9A10}" dt="2026-07-01T14:16:03.399" v="24" actId="33475"/>
          <ac:spMkLst>
            <pc:docMk/>
            <pc:sldMasterMk cId="2209977519" sldId="2147483648"/>
            <ac:spMk id="8" creationId="{56FA1EF2-320E-9872-C907-C777CCD665F9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A1EF2-320E-9872-C907-C777CCD665F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6621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ZA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320040" cy="2194560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A6E2"/>
                </a:solidFill>
                <a:latin typeface="Segoe UI"/>
              </a:rPr>
              <a:t>▦  MEETING ROOM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Reserva de Salas, do zero à produção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C8D6F0"/>
                </a:solidFill>
                <a:latin typeface="Segoe UI"/>
              </a:rPr>
              <a:t>Construído com Inteligência Artificial em cada passo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09160"/>
            <a:ext cx="2926080" cy="41148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5616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dirty="0" err="1">
                <a:solidFill>
                  <a:srgbClr val="C8D6F0"/>
                </a:solidFill>
                <a:latin typeface="Segoe UI"/>
              </a:rPr>
              <a:t>Apresentação</a:t>
            </a:r>
            <a:r>
              <a:rPr sz="1500" b="0" dirty="0">
                <a:solidFill>
                  <a:srgbClr val="C8D6F0"/>
                </a:solidFill>
                <a:latin typeface="Segoe UI"/>
              </a:rPr>
              <a:t> </a:t>
            </a:r>
            <a:r>
              <a:rPr lang="en-US" sz="1500" dirty="0">
                <a:solidFill>
                  <a:srgbClr val="C8D6F0"/>
                </a:solidFill>
                <a:latin typeface="Segoe UI"/>
              </a:rPr>
              <a:t>Manco</a:t>
            </a:r>
            <a:endParaRPr sz="1500" b="0" dirty="0">
              <a:solidFill>
                <a:srgbClr val="C8D6F0"/>
              </a:solidFill>
              <a:latin typeface="Segoe UI"/>
            </a:endParaRPr>
          </a:p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5A6372"/>
                </a:solidFill>
                <a:latin typeface="Segoe UI"/>
              </a:rPr>
              <a:t>Standard Bank  ·  PPB Moçambique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1A4B"/>
                </a:solidFill>
                <a:latin typeface="Segoe UI"/>
              </a:rPr>
              <a:t>O problema → 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303520" cy="42062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A6372"/>
                </a:solidFill>
                <a:latin typeface="Segoe UI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001A4B"/>
                </a:solidFill>
                <a:latin typeface="Segoe UI"/>
              </a:rPr>
              <a:t>–  Gestão por email </a:t>
            </a:r>
            <a:r>
              <a:rPr sz="1500" b="0">
                <a:solidFill>
                  <a:srgbClr val="5A6372"/>
                </a:solidFill>
                <a:latin typeface="Segoe UI"/>
              </a:rPr>
              <a:t>e mensagens dispersas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001A4B"/>
                </a:solidFill>
                <a:latin typeface="Segoe UI"/>
              </a:rPr>
              <a:t>–  Conflitos de reserva </a:t>
            </a:r>
            <a:r>
              <a:rPr sz="1500" b="0">
                <a:solidFill>
                  <a:srgbClr val="5A6372"/>
                </a:solidFill>
                <a:latin typeface="Segoe UI"/>
              </a:rPr>
              <a:t>constantes na mesma sala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001A4B"/>
                </a:solidFill>
                <a:latin typeface="Segoe UI"/>
              </a:rPr>
              <a:t>–  Sem visibilidade </a:t>
            </a:r>
            <a:r>
              <a:rPr sz="1500" b="0">
                <a:solidFill>
                  <a:srgbClr val="5A6372"/>
                </a:solidFill>
                <a:latin typeface="Segoe UI"/>
              </a:rPr>
              <a:t>de ocupação ou histórico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001A4B"/>
                </a:solidFill>
                <a:latin typeface="Segoe UI"/>
              </a:rPr>
              <a:t>–  Sem relatórios </a:t>
            </a:r>
            <a:r>
              <a:rPr sz="1500" b="0">
                <a:solidFill>
                  <a:srgbClr val="5A6372"/>
                </a:solidFill>
                <a:latin typeface="Segoe UI"/>
              </a:rPr>
              <a:t>para a gestão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54480"/>
            <a:ext cx="5303520" cy="4206240"/>
          </a:xfrm>
          <a:prstGeom prst="round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A6E2"/>
                </a:solidFill>
                <a:latin typeface="Segoe UI"/>
              </a:rPr>
              <a:t>DEPOIS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2316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App web completa </a:t>
            </a:r>
            <a:r>
              <a:rPr sz="1500">
                <a:solidFill>
                  <a:srgbClr val="D5E2F7"/>
                </a:solidFill>
                <a:latin typeface="Segoe UI"/>
              </a:rPr>
              <a:t>de reserva de salas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Calendário </a:t>
            </a:r>
            <a:r>
              <a:rPr sz="1500">
                <a:solidFill>
                  <a:srgbClr val="D5E2F7"/>
                </a:solidFill>
                <a:latin typeface="Segoe UI"/>
              </a:rPr>
              <a:t>dia / semana / mês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Deteta conflitos </a:t>
            </a:r>
            <a:r>
              <a:rPr sz="1500">
                <a:solidFill>
                  <a:srgbClr val="D5E2F7"/>
                </a:solidFill>
                <a:latin typeface="Segoe UI"/>
              </a:rPr>
              <a:t>automaticamente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Painel + relatórios </a:t>
            </a:r>
            <a:r>
              <a:rPr sz="1500">
                <a:solidFill>
                  <a:srgbClr val="D5E2F7"/>
                </a:solidFill>
                <a:latin typeface="Segoe UI"/>
              </a:rPr>
              <a:t>e impressão de escalas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Bilingue </a:t>
            </a:r>
            <a:r>
              <a:rPr sz="1500">
                <a:solidFill>
                  <a:srgbClr val="D5E2F7"/>
                </a:solidFill>
                <a:latin typeface="Segoe UI"/>
              </a:rPr>
              <a:t>Português e Inglês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Segoe UI"/>
              </a:rPr>
              <a:t>Meeting Room Booking  ·  PPB Moçambique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0033A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1A4B"/>
                </a:solidFill>
                <a:latin typeface="Segoe UI"/>
              </a:rPr>
              <a:t>A tecnologia — e o porquê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372"/>
                </a:solidFill>
                <a:latin typeface="Segoe UI"/>
              </a:rPr>
              <a:t>Escolha da stack guiada por AI: rápida de entregar, sem licenças, fácil de manter.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3611880" cy="26517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3611880" cy="109728"/>
          </a:xfrm>
          <a:prstGeom prst="round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33A0"/>
                </a:solidFill>
                <a:latin typeface="Segoe UI"/>
              </a:rPr>
              <a:t>HTML · CSS ·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72"/>
                </a:solidFill>
                <a:latin typeface="Segoe UI"/>
              </a:rPr>
              <a:t>Front-end puro. Sem frameworks pesadas, corre em qualquer navegador.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48840"/>
            <a:ext cx="3611880" cy="26517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611880" cy="109728"/>
          </a:xfrm>
          <a:prstGeom prst="round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33A0"/>
                </a:solidFill>
                <a:latin typeface="Segoe UI"/>
              </a:rPr>
              <a:t>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00400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72"/>
                </a:solidFill>
                <a:latin typeface="Segoe UI"/>
              </a:rPr>
              <a:t>Base de dados na cloud, partilhada e ao vivo. Zero servidores a gerir.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148840"/>
            <a:ext cx="3611880" cy="26517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83880" y="2148840"/>
            <a:ext cx="3611880" cy="109728"/>
          </a:xfrm>
          <a:prstGeom prst="round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246888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33A0"/>
                </a:solidFill>
                <a:latin typeface="Segoe UI"/>
              </a:rPr>
              <a:t>Custo ~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00400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72"/>
                </a:solidFill>
                <a:latin typeface="Segoe UI"/>
              </a:rPr>
              <a:t>Assente em tiers gratuitos. Sem custos de licenciamento.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120640"/>
            <a:ext cx="11155680" cy="914400"/>
          </a:xfrm>
          <a:prstGeom prst="roundRect">
            <a:avLst/>
          </a:prstGeom>
          <a:solidFill>
            <a:srgbClr val="001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230368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Eu decidi o QUÊ e validei a qualidade. A AI comparou alternativas e acelerou o COMO.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Segoe UI"/>
              </a:rPr>
              <a:t>Meeting Room Booking  ·  PPB Moçambique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0033A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1A4B"/>
                </a:solidFill>
                <a:latin typeface="Segoe UI"/>
              </a:rPr>
              <a:t>AI em cada passo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155680" cy="10972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097280" cy="1097280"/>
          </a:xfrm>
          <a:prstGeom prst="round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1A4B"/>
                </a:solidFill>
                <a:latin typeface="Segoe UI"/>
              </a:rPr>
              <a:t>DESENHAR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6858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372"/>
                </a:solidFill>
                <a:latin typeface="Segoe UI"/>
              </a:rPr>
              <a:t>Modelo de dados e regras de negócio — ex.: impedir reservas sobrepostas.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07208"/>
            <a:ext cx="11155680" cy="10972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2807208"/>
            <a:ext cx="1097280" cy="1097280"/>
          </a:xfrm>
          <a:prstGeom prst="round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807208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07208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1A4B"/>
                </a:solidFill>
                <a:latin typeface="Segoe UI"/>
              </a:rPr>
              <a:t>PROGRAMAR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07208"/>
            <a:ext cx="6858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372"/>
                </a:solidFill>
                <a:latin typeface="Segoe UI"/>
              </a:rPr>
              <a:t>Cada página: calendário, painel de estatísticas, gestão de utilizadores.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14216"/>
            <a:ext cx="11155680" cy="10972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4014216"/>
            <a:ext cx="1097280" cy="1097280"/>
          </a:xfrm>
          <a:prstGeom prst="round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14216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14216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1A4B"/>
                </a:solidFill>
                <a:latin typeface="Segoe UI"/>
              </a:rPr>
              <a:t>TRADUZIR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14216"/>
            <a:ext cx="6858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372"/>
                </a:solidFill>
                <a:latin typeface="Segoe UI"/>
              </a:rPr>
              <a:t>Aplicação inteira localizada para Português e Inglês.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21224"/>
            <a:ext cx="11155680" cy="10972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" y="5221224"/>
            <a:ext cx="1097280" cy="1097280"/>
          </a:xfrm>
          <a:prstGeom prst="round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221224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21224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1A4B"/>
                </a:solidFill>
                <a:latin typeface="Segoe UI"/>
              </a:rPr>
              <a:t>EVOLUIR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21224"/>
            <a:ext cx="6858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372"/>
                </a:solidFill>
                <a:latin typeface="Segoe UI"/>
              </a:rPr>
              <a:t>Funcionalidades novas em minutos — ex.: imprimir escala por sala.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Segoe UI"/>
              </a:rPr>
              <a:t>Meeting Room Booking  ·  PPB Moçambique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0033A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Porque só foi possível com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00A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A6E2"/>
                </a:solidFill>
                <a:latin typeface="Segoe UI"/>
              </a:rPr>
              <a:t>▸  Um projeto destes exigiria uma equipa e semanas.  </a:t>
            </a:r>
            <a:r>
              <a:rPr sz="1900">
                <a:solidFill>
                  <a:srgbClr val="D5E2F7"/>
                </a:solidFill>
                <a:latin typeface="Segoe UI"/>
              </a:rPr>
              <a:t>Entregue por uma pessoa, em dias.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A6E2"/>
                </a:solidFill>
                <a:latin typeface="Segoe UI"/>
              </a:rPr>
              <a:t>▸  A AI foi programador, revisor e tradutor.  </a:t>
            </a:r>
            <a:r>
              <a:rPr sz="1900">
                <a:solidFill>
                  <a:srgbClr val="D5E2F7"/>
                </a:solidFill>
                <a:latin typeface="Segoe UI"/>
              </a:rPr>
              <a:t>Disponível a qualquer hora.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A6E2"/>
                </a:solidFill>
                <a:latin typeface="Segoe UI"/>
              </a:rPr>
              <a:t>▸  Eu mantive-me o arquiteto.  </a:t>
            </a:r>
            <a:r>
              <a:rPr sz="1900">
                <a:solidFill>
                  <a:srgbClr val="D5E2F7"/>
                </a:solidFill>
                <a:latin typeface="Segoe UI"/>
              </a:rPr>
              <a:t>Decidi o quê, validei a qualidade.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10515600" cy="1463040"/>
          </a:xfrm>
          <a:prstGeom prst="round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842748"/>
            <a:ext cx="987552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FFFFFF"/>
                </a:solidFill>
                <a:latin typeface="Segoe UI"/>
              </a:rPr>
              <a:t>10x </a:t>
            </a:r>
            <a:r>
              <a:rPr sz="2200" b="1" dirty="0" err="1">
                <a:solidFill>
                  <a:srgbClr val="FFFFFF"/>
                </a:solidFill>
                <a:latin typeface="Segoe UI"/>
              </a:rPr>
              <a:t>mais</a:t>
            </a:r>
            <a:r>
              <a:rPr sz="22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Segoe UI"/>
              </a:rPr>
              <a:t>rápid</a:t>
            </a:r>
            <a:r>
              <a:rPr lang="en-US" sz="2200" b="1" dirty="0" err="1">
                <a:solidFill>
                  <a:srgbClr val="FFFFFF"/>
                </a:solidFill>
                <a:latin typeface="Segoe UI"/>
              </a:rPr>
              <a:t>o</a:t>
            </a:r>
            <a:r>
              <a:rPr sz="2200" b="1" dirty="0">
                <a:solidFill>
                  <a:srgbClr val="FFFFFF"/>
                </a:solidFill>
                <a:latin typeface="Segoe UI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sz="1500" b="0" dirty="0">
                <a:solidFill>
                  <a:srgbClr val="D5E2F7"/>
                </a:solidFill>
                <a:latin typeface="Segoe UI"/>
              </a:rPr>
              <a:t>Se um </a:t>
            </a:r>
            <a:r>
              <a:rPr sz="1500" b="0" dirty="0" err="1">
                <a:solidFill>
                  <a:srgbClr val="D5E2F7"/>
                </a:solidFill>
                <a:latin typeface="Segoe UI"/>
              </a:rPr>
              <a:t>projeto</a:t>
            </a:r>
            <a:r>
              <a:rPr sz="1500" b="0" dirty="0">
                <a:solidFill>
                  <a:srgbClr val="D5E2F7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D5E2F7"/>
                </a:solidFill>
                <a:latin typeface="Segoe UI"/>
              </a:rPr>
              <a:t>assim</a:t>
            </a:r>
            <a:r>
              <a:rPr sz="1500" b="0" dirty="0">
                <a:solidFill>
                  <a:srgbClr val="D5E2F7"/>
                </a:solidFill>
                <a:latin typeface="Segoe UI"/>
              </a:rPr>
              <a:t> se </a:t>
            </a:r>
            <a:r>
              <a:rPr sz="1500" b="0" dirty="0" err="1">
                <a:solidFill>
                  <a:srgbClr val="D5E2F7"/>
                </a:solidFill>
                <a:latin typeface="Segoe UI"/>
              </a:rPr>
              <a:t>entrega</a:t>
            </a:r>
            <a:r>
              <a:rPr sz="1500" b="0" dirty="0">
                <a:solidFill>
                  <a:srgbClr val="D5E2F7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D5E2F7"/>
                </a:solidFill>
                <a:latin typeface="Segoe UI"/>
              </a:rPr>
              <a:t>tão</a:t>
            </a:r>
            <a:r>
              <a:rPr sz="1500" b="0" dirty="0">
                <a:solidFill>
                  <a:srgbClr val="D5E2F7"/>
                </a:solidFill>
                <a:latin typeface="Segoe UI"/>
              </a:rPr>
              <a:t> depressa, </a:t>
            </a:r>
            <a:r>
              <a:rPr sz="1500" b="0" dirty="0" err="1">
                <a:solidFill>
                  <a:srgbClr val="D5E2F7"/>
                </a:solidFill>
                <a:latin typeface="Segoe UI"/>
              </a:rPr>
              <a:t>imaginem</a:t>
            </a:r>
            <a:r>
              <a:rPr sz="1500" b="0" dirty="0">
                <a:solidFill>
                  <a:srgbClr val="D5E2F7"/>
                </a:solidFill>
                <a:latin typeface="Segoe UI"/>
              </a:rPr>
              <a:t> as </a:t>
            </a:r>
            <a:r>
              <a:rPr sz="1500" b="0" dirty="0" err="1">
                <a:solidFill>
                  <a:srgbClr val="D5E2F7"/>
                </a:solidFill>
                <a:latin typeface="Segoe UI"/>
              </a:rPr>
              <a:t>equipas</a:t>
            </a:r>
            <a:r>
              <a:rPr sz="1500" b="0" dirty="0">
                <a:solidFill>
                  <a:srgbClr val="D5E2F7"/>
                </a:solidFill>
                <a:latin typeface="Segoe UI"/>
              </a:rPr>
              <a:t> do PBB com </a:t>
            </a:r>
            <a:r>
              <a:rPr sz="1500" b="0" dirty="0" err="1">
                <a:solidFill>
                  <a:srgbClr val="D5E2F7"/>
                </a:solidFill>
                <a:latin typeface="Segoe UI"/>
              </a:rPr>
              <a:t>estas</a:t>
            </a:r>
            <a:r>
              <a:rPr sz="1500" b="0" dirty="0">
                <a:solidFill>
                  <a:srgbClr val="D5E2F7"/>
                </a:solidFill>
                <a:latin typeface="Segoe UI"/>
              </a:rPr>
              <a:t> ferramentas.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A6E2"/>
                </a:solidFill>
                <a:latin typeface="Segoe UI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340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Langa, Stelio S</cp:lastModifiedBy>
  <cp:revision>1</cp:revision>
  <dcterms:created xsi:type="dcterms:W3CDTF">2013-01-27T09:14:16Z</dcterms:created>
  <dcterms:modified xsi:type="dcterms:W3CDTF">2026-07-01T14:19:11Z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6b9d4ea-d348-4e93-a29a-8def053c0154_Enabled">
    <vt:lpwstr>true</vt:lpwstr>
  </property>
  <property fmtid="{D5CDD505-2E9C-101B-9397-08002B2CF9AE}" pid="3" name="MSIP_Label_d6b9d4ea-d348-4e93-a29a-8def053c0154_SetDate">
    <vt:lpwstr>2026-07-01T14:16:03Z</vt:lpwstr>
  </property>
  <property fmtid="{D5CDD505-2E9C-101B-9397-08002B2CF9AE}" pid="4" name="MSIP_Label_d6b9d4ea-d348-4e93-a29a-8def053c0154_Method">
    <vt:lpwstr>Standard</vt:lpwstr>
  </property>
  <property fmtid="{D5CDD505-2E9C-101B-9397-08002B2CF9AE}" pid="5" name="MSIP_Label_d6b9d4ea-d348-4e93-a29a-8def053c0154_Name">
    <vt:lpwstr>d6b9d4ea-d348-4e93-a29a-8def053c0154</vt:lpwstr>
  </property>
  <property fmtid="{D5CDD505-2E9C-101B-9397-08002B2CF9AE}" pid="6" name="MSIP_Label_d6b9d4ea-d348-4e93-a29a-8def053c0154_SiteId">
    <vt:lpwstr>7369e6ec-faa6-42fa-bc0e-4f332da5b1db</vt:lpwstr>
  </property>
  <property fmtid="{D5CDD505-2E9C-101B-9397-08002B2CF9AE}" pid="7" name="MSIP_Label_d6b9d4ea-d348-4e93-a29a-8def053c0154_ActionId">
    <vt:lpwstr>96f95ac2-c691-45e8-9bd6-1bfa9ec0a42f</vt:lpwstr>
  </property>
  <property fmtid="{D5CDD505-2E9C-101B-9397-08002B2CF9AE}" pid="8" name="MSIP_Label_d6b9d4ea-d348-4e93-a29a-8def053c0154_ContentBits">
    <vt:lpwstr>2</vt:lpwstr>
  </property>
  <property fmtid="{D5CDD505-2E9C-101B-9397-08002B2CF9AE}" pid="9" name="MSIP_Label_d6b9d4ea-d348-4e93-a29a-8def053c015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Classified as Internal use only</vt:lpwstr>
  </property>
</Properties>
</file>